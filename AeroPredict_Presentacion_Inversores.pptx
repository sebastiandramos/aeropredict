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28655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>
                <a:solidFill>
                  <a:srgbClr val="F59E0B"/>
                </a:solidFill>
                <a:latin typeface="Calibri"/>
              </a:defRPr>
            </a:pPr>
            <a:r>
              <a:t>1 de cada 3 pasajeros sufrió un retraso en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34 millones de pasajeros afectados solo en España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2.200 millones de euros en compensaciones que nadie reclamó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2E86DE"/>
                </a:solidFill>
                <a:latin typeface="Calibri"/>
              </a:defRPr>
            </a:pPr>
            <a:r>
              <a:t>¿Y si pudieras saberlo antes?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6217920"/>
            <a:ext cx="6705295" cy="36576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La incertidumbre tiene un coste: tiempo, dinero, tranquilidad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11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340"/>
              </a:lnSpc>
              <a:spcAft>
                <a:spcPts val="400"/>
              </a:spcAft>
            </a:pPr>
            <a:r>
              <a:rPr sz="1800" b="1">
                <a:solidFill>
                  <a:srgbClr val="CBD5E1"/>
                </a:solidFill>
                <a:latin typeface="Calibri"/>
              </a:rPr>
              <a:t>Cada retraso es una cadena de consecuencias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✈️  Conexiones perdidas que alargan el viaje horas o días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🗓️  Planes arruinados: reuniones, hoteles, eventos familiares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😰  Ansiedad constante: ¿sale o no sale mi vuelo?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029200" cy="411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340"/>
              </a:lnSpc>
              <a:spcAft>
                <a:spcPts val="400"/>
              </a:spcAft>
            </a:pPr>
            <a:r>
              <a:rPr sz="1800" b="1">
                <a:solidFill>
                  <a:srgbClr val="CBD5E1"/>
                </a:solidFill>
                <a:latin typeface="Calibri"/>
              </a:rPr>
              <a:t>El coste oculto del viajero frecuente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💰  800 €/año pierde un viajero frecuente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en estrés, pérdidas y cambios de última hora</a:t>
            </a:r>
          </a:p>
          <a:p>
            <a:pPr algn="l">
              <a:lnSpc>
                <a:spcPts val="13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ts val="156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Fuentes: AirHelp 2025, Eurocontrol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554480"/>
            <a:ext cx="36576" cy="32004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Un pasajero informado es un pasajero tranquilo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E86DE"/>
                </a:solidFill>
                <a:latin typeface="Calibri"/>
              </a:defRPr>
            </a:pPr>
            <a:r>
              <a:t>📱  Anticipación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Saber 30 min antes si 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0008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vuelo sale o no. Tiempo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42616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para reaccionar.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E86DE"/>
                </a:solidFill>
                <a:latin typeface="Calibri"/>
              </a:defRPr>
            </a:pPr>
            <a:r>
              <a:t>🎯 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5740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Replanificar sobre 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50008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marcha, no esperar 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42616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la cola del mostrador.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55448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916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E86DE"/>
                </a:solidFill>
                <a:latin typeface="Calibri"/>
              </a:defRPr>
            </a:pPr>
            <a:r>
              <a:t>💰  Ahorro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05740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Evitar noches de hotel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350008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perdidas, conexiones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42616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rotas, días de trabajo.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072865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CBD5E1"/>
                </a:solidFill>
                <a:latin typeface="Calibri"/>
              </a:defRPr>
            </a:pPr>
            <a:r>
              <a:t>Mercado flight tracking: 2.500M$ → 5.200M$ (9.1% CAGR)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AeroPredict: predicción de retrasos al alcance de tu mano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58087" y="1645920"/>
            <a:ext cx="2926080" cy="201168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86687" y="1783080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E86DE"/>
                </a:solidFill>
                <a:latin typeface="Calibri"/>
              </a:defRPr>
            </a:pPr>
            <a:r>
              <a:t>📡  Radar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6687" y="2286000"/>
            <a:ext cx="24688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62 aeropuertos</a:t>
            </a:r>
            <a:br/>
            <a:r>
              <a:t>monitorizados 24/7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29887" y="228600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2E86D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2807" y="1645920"/>
            <a:ext cx="2926080" cy="201168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1407" y="1783080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E86DE"/>
                </a:solidFill>
                <a:latin typeface="Calibri"/>
              </a:defRPr>
            </a:pPr>
            <a:r>
              <a:t>🤖  ML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1407" y="2286000"/>
            <a:ext cx="24688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22 variables</a:t>
            </a:r>
            <a:br/>
            <a:r>
              <a:t>por vuelo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4607" y="2286000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2E86D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527" y="1645920"/>
            <a:ext cx="2926080" cy="201168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6127" y="1783080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E86DE"/>
                </a:solidFill>
                <a:latin typeface="Calibri"/>
              </a:defRPr>
            </a:pPr>
            <a:r>
              <a:t>📱  App /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6127" y="2286000"/>
            <a:ext cx="24688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Predicción</a:t>
            </a:r>
            <a:br/>
            <a:r>
              <a:t>en segundos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 construimos para aerolíneas. Construimos para quien viaja.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49527" y="4754880"/>
            <a:ext cx="2926080" cy="137160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32407" y="493776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2E86DE"/>
                </a:solidFill>
                <a:latin typeface="Calibri"/>
              </a:defRPr>
            </a:pPr>
            <a:r>
              <a:t>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2407" y="539496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aeropuertos</a:t>
            </a:r>
            <a:br/>
            <a:r>
              <a:t>monitorizados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32807" y="4754880"/>
            <a:ext cx="2926080" cy="137160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5687" y="493776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2E86DE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5687" y="539496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variables</a:t>
            </a:r>
            <a:br/>
            <a:r>
              <a:t>por vuelo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6087" y="4754880"/>
            <a:ext cx="2926080" cy="137160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8967" y="493776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2E86DE"/>
                </a:solidFill>
                <a:latin typeface="Calibri"/>
              </a:defRPr>
            </a:pPr>
            <a:r>
              <a:t>&lt;100ms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8967" y="539496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de inferencia</a:t>
            </a:r>
            <a:br/>
            <a:r>
              <a:t>por consulta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No estamos adivinando. Trabajamos con datos reales a escala.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  <a:gridCol w="3779215"/>
              </a:tblGrid>
              <a:tr h="82296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 técnico</a:t>
                      </a:r>
                    </a:p>
                  </a:txBody>
                  <a:tcPr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 puente</a:t>
                      </a:r>
                    </a:p>
                  </a:txBody>
                  <a:tcPr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 que escuchas</a:t>
                      </a:r>
                    </a:p>
                  </a:txBody>
                  <a:tcPr>
                    <a:solidFill>
                      <a:srgbClr val="2E86D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OpenSky + 3 clientes anti-429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62 aeropuertos monitorizados 24/7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Cobertura real, sin puntos ciegos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Bronze → Silver → Gold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Datos crudos → validados → analíticos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Arquitectura profesional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 features predictivas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Más de 20 variables por vuelo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 modelo no se basa en intuiciones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Open-Meteo + AviationStack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Clima + programación de vuelos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Contexto completo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El modelo funciona. Las métricas reales son el próximo hito.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9487" y="1463040"/>
            <a:ext cx="2377440" cy="128016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2367" y="164592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LightGBM</a:t>
            </a:r>
            <a:br/>
            <a:r>
              <a:t>Regressor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2367" y="21031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⚙️  Modelo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1247" y="1463040"/>
            <a:ext cx="2377440" cy="128016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64127" y="164592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22</a:t>
            </a:r>
            <a:br/>
            <a:r>
              <a:t>predictivas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4127" y="21031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📊 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463040"/>
            <a:ext cx="2377440" cy="128016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5887" y="164592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±0.41 min</a:t>
            </a:r>
            <a:br/>
            <a:r>
              <a:t>(mock data)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21031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🎯  Error medio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84767" y="1463040"/>
            <a:ext cx="2377440" cy="128016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7647" y="164592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&lt;100ms</a:t>
            </a:r>
            <a:br/>
            <a:r>
              <a:t>por consulta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7647" y="21031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⚡  Inferencia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00400"/>
            <a:ext cx="10728655" cy="109728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B1D3A"/>
                </a:solidFill>
                <a:latin typeface="Calibri"/>
              </a:defRPr>
            </a:pPr>
            <a:r>
              <a:t>Estos resultados son con datos sintéticos.</a:t>
            </a:r>
            <a:br/>
            <a:r>
              <a:t>El modelo está listo para validarse con datos reales de producción.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CBD5E1"/>
                </a:solidFill>
                <a:latin typeface="Calibri"/>
              </a:defRPr>
            </a:pPr>
            <a:r>
              <a:t>La arquitectura está preparada. El siguiente paso es un piloto con datos reales.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Predicciones donde las necesitas: en tu móvil, en tu app de viajes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114800"/>
          </a:xfrm>
          <a:prstGeom prst="roundRect">
            <a:avLst>
              <a:gd name="adj" fmla="val 8000"/>
            </a:avLst>
          </a:prstGeom>
          <a:solidFill>
            <a:srgbClr val="183055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011680"/>
            <a:ext cx="2743200" cy="1188720"/>
          </a:xfrm>
          <a:prstGeom prst="roundRect">
            <a:avLst>
              <a:gd name="adj" fmla="val 5000"/>
            </a:avLst>
          </a:prstGeom>
          <a:solidFill>
            <a:srgbClr val="22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⚠️  Alerta de vuelo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Tu vuelo a Madrid tiene</a:t>
            </a:r>
            <a:br/>
            <a:r>
              <a:t>retraso estimado de 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11480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📱  Notificaciones push</a:t>
            </a:r>
            <a:br/>
            <a:r>
              <a:t>    en tiempo real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463040"/>
            <a:ext cx="6400800" cy="123444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1600200"/>
            <a:ext cx="5943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E86DE"/>
                </a:solidFill>
                <a:latin typeface="Calibri"/>
              </a:defRPr>
            </a:pPr>
            <a:r>
              <a:t>📱  App gratuita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965960"/>
            <a:ext cx="5943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Predicciones básicas,</a:t>
            </a:r>
            <a:br/>
            <a:r>
              <a:t>notificaciones esenciales.</a:t>
            </a:r>
            <a:br/>
            <a:r>
              <a:t>Gratis para siempre.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880360"/>
            <a:ext cx="6400800" cy="123444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3017520"/>
            <a:ext cx="5943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⭐  Premium (2.99 €/mes)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383280"/>
            <a:ext cx="5943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Alertas avanzadas, ETA</a:t>
            </a:r>
            <a:br/>
            <a:r>
              <a:t>preciso, recomendaciones</a:t>
            </a:r>
            <a:br/>
            <a:r>
              <a:t>de replanificación.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297680"/>
            <a:ext cx="6400800" cy="123444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 w="127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4434840"/>
            <a:ext cx="5943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E86DE"/>
                </a:solidFill>
                <a:latin typeface="Calibri"/>
              </a:defRPr>
            </a:pPr>
            <a:r>
              <a:t>🔌  API B2B2C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4800600"/>
            <a:ext cx="5943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Integración en Skyscanner,</a:t>
            </a:r>
            <a:br/>
            <a:r>
              <a:t>Kayak, Google Flights,</a:t>
            </a:r>
            <a:br/>
            <a:r>
              <a:t>seguros de viaje.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El pasajero es nuestro cliente final. Llegamos a él directa o indirectamente.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Lo que otros no tienen: predicción real, no solo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2743200"/>
                <a:gridCol w="2864815"/>
              </a:tblGrid>
              <a:tr h="5791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FlightRadar24</a:t>
                      </a:r>
                    </a:p>
                  </a:txBody>
                  <a:tcPr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Google Flights</a:t>
                      </a:r>
                    </a:p>
                  </a:txBody>
                  <a:tcPr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AeroPredict</a:t>
                      </a:r>
                    </a:p>
                  </a:txBody>
                  <a:tcPr>
                    <a:solidFill>
                      <a:srgbClr val="2E86D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Tracking en vivo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Predicción de retrasos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Anticipación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 min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 min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30-90 min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Notificaciones proactivas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Parcial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API para integración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Paga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Sí + B2B2C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FlightRadar24: 4M usuarios/día, 37M$ de revenue, 500M$ de valoración de mercado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Coste mínimo, modelo de ingresos escalable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E86DE"/>
                </a:solidFill>
                <a:latin typeface="Calibri"/>
              </a:defRPr>
            </a:pPr>
            <a:r>
              <a:t>Costes operativos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Concepto</a:t>
                      </a:r>
                    </a:p>
                  </a:txBody>
                  <a:tcPr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Coste</a:t>
                      </a:r>
                    </a:p>
                  </a:txBody>
                  <a:tcPr>
                    <a:solidFill>
                      <a:srgbClr val="2E86D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Infraestructura cloud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~60 €/mes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APIs externas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Gratuito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Gratuito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~60 €/mes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13716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E86DE"/>
                </a:solidFill>
                <a:latin typeface="Calibri"/>
              </a:defRPr>
            </a:pPr>
            <a:r>
              <a:t>Modelo de ingresos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1828800"/>
          <a:ext cx="4572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828800"/>
              </a:tblGrid>
              <a:tr h="5257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Precio</a:t>
                      </a:r>
                    </a:p>
                  </a:txBody>
                  <a:tcPr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E86D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0 €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100k usuarios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Premium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2.99 €/m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5% conversión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B2B2C API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Licencias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Travel apps</a:t>
                      </a:r>
                    </a:p>
                  </a:txBody>
                  <a:tcPr>
                    <a:solidFill>
                      <a:srgbClr val="12284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0" y="411480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60k usuarios año 1 → 3.6M$ de ingresos potenciales a escala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60 €/mes de coste. Cada 1.000 usuarios premium cubren 50 meses de operación.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Del prototipo al producto: 12 meses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9487" y="2240280"/>
            <a:ext cx="10332720" cy="36576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08479" y="2148840"/>
            <a:ext cx="219456" cy="219456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9487" y="137160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2E86DE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487" y="2560320"/>
            <a:ext cx="23774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MVP + Beta users</a:t>
            </a:r>
            <a:br/>
            <a:r>
              <a:t>Validación métricas reales</a:t>
            </a:r>
          </a:p>
        </p:txBody>
      </p:sp>
      <p:sp>
        <p:nvSpPr>
          <p:cNvPr id="8" name="Oval 7"/>
          <p:cNvSpPr/>
          <p:nvPr/>
        </p:nvSpPr>
        <p:spPr>
          <a:xfrm>
            <a:off x="4660239" y="2148840"/>
            <a:ext cx="219456" cy="219456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1247" y="137160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2E86DE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1247" y="2560320"/>
            <a:ext cx="23774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App iOS/Android</a:t>
            </a:r>
            <a:br/>
            <a:r>
              <a:t>Notificaciones push</a:t>
            </a:r>
          </a:p>
        </p:txBody>
      </p:sp>
      <p:sp>
        <p:nvSpPr>
          <p:cNvPr id="11" name="Oval 10"/>
          <p:cNvSpPr/>
          <p:nvPr/>
        </p:nvSpPr>
        <p:spPr>
          <a:xfrm>
            <a:off x="7311999" y="2148840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37160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560320"/>
            <a:ext cx="23774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Modelos multi-aeropuerto</a:t>
            </a:r>
            <a:br/>
            <a:r>
              <a:t>API B2B2C v1</a:t>
            </a:r>
          </a:p>
        </p:txBody>
      </p:sp>
      <p:sp>
        <p:nvSpPr>
          <p:cNvPr id="14" name="Oval 13"/>
          <p:cNvSpPr/>
          <p:nvPr/>
        </p:nvSpPr>
        <p:spPr>
          <a:xfrm>
            <a:off x="9963759" y="2148840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84767" y="137160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4767" y="2560320"/>
            <a:ext cx="23774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Escalado Europa</a:t>
            </a:r>
            <a:br/>
            <a:r>
              <a:t>100k usuarios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1072865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CBD5E1"/>
                </a:solidFill>
                <a:latin typeface="Calibri"/>
              </a:defRPr>
            </a:pPr>
            <a:r>
              <a:t>Necesitamos beta users y partners de distribución para arrancar.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Precisión que mejora con cada vuelo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340"/>
              </a:lnSpc>
              <a:spcAft>
                <a:spcPts val="400"/>
              </a:spcAft>
            </a:pPr>
            <a:r>
              <a:rPr sz="1800" b="1">
                <a:solidFill>
                  <a:srgbClr val="2E86DE"/>
                </a:solidFill>
                <a:latin typeface="Calibri"/>
              </a:rPr>
              <a:t>Datos reales  →  Re-entrenamiento semanal  →  Modelo actualizado  →  Mejor predicción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2E86DE"/>
                </a:solidFill>
                <a:latin typeface="Calibri"/>
              </a:defRPr>
            </a:pPr>
            <a:r>
              <a:t>🔄  Auto-retraining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El modelo se re-entrena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55848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semanalmente con nuevos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48456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datos de producción.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56032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69748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2E86DE"/>
                </a:solidFill>
                <a:latin typeface="Calibri"/>
              </a:defRPr>
            </a:pPr>
            <a:r>
              <a:t>📈  MLflow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06324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Cada versión registrada,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355848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comparada y validada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648456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contra la anterior.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56032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69748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700" b="1">
                <a:solidFill>
                  <a:srgbClr val="2E86DE"/>
                </a:solidFill>
                <a:latin typeface="Calibri"/>
              </a:defRPr>
            </a:pPr>
            <a:r>
              <a:t>✅  Health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06324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API monitoreada 24/7.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355848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Alertas automáticas si 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648456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precisión cae del umbral.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CBD5E1"/>
                </a:solidFill>
                <a:latin typeface="Calibri"/>
              </a:defRPr>
            </a:pPr>
            <a:r>
              <a:t>No es un modelo estático. Es un sistema que aprende.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Sabemos lo que funciona. Y lo que falta por validar.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✅  Lo que tenemos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Pipeline automatizado y probado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Modelo LightGBM entrenado y registrado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API funcional con 3 endpoints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62 aeropuertos monitorizados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🔄  Lo que viene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Validación con datos reales de producción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Métricas de precisión real (RMSE, MAE)</a:t>
            </a:r>
          </a:p>
          <a:p>
            <a:pPr algn="l">
              <a:lnSpc>
                <a:spcPts val="208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Feedback loop con usuarios reales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36576" cy="2743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28655" cy="822960"/>
          </a:xfrm>
          <a:prstGeom prst="roundRect">
            <a:avLst>
              <a:gd name="adj" fmla="val 5000"/>
            </a:avLst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Preferimos ser honestos que impresionar con datos que aún no tenemos.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Tres personas. Un objetivo.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2E86DE"/>
                </a:solidFill>
                <a:latin typeface="Calibri"/>
              </a:defRPr>
            </a:pPr>
            <a:r>
              <a:t>🎓  Sebastián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Big Data &amp;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41448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Pipeline, modelos, API.</a:t>
            </a:r>
            <a:br/>
            <a:r>
              <a:t>Responsable de la</a:t>
            </a:r>
            <a:br/>
            <a:r>
              <a:t>arquitectura de datos</a:t>
            </a:r>
            <a:br/>
            <a:r>
              <a:t>y los modelos 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2E86DE"/>
                </a:solidFill>
                <a:latin typeface="Calibri"/>
              </a:defRPr>
            </a:pPr>
            <a:r>
              <a:t>🎓  Tomás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4884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Datos &amp; Infraestructura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41448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26280" y="2734056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Ingesta, cloud, CI/CD.</a:t>
            </a:r>
            <a:br/>
            <a:r>
              <a:t>Responsable de la</a:t>
            </a:r>
            <a:br/>
            <a:r>
              <a:t>infraestructura y la</a:t>
            </a:r>
            <a:br/>
            <a:r>
              <a:t>calidad del dato.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645920"/>
            <a:ext cx="3291840" cy="347472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78308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2E86DE"/>
                </a:solidFill>
                <a:latin typeface="Calibri"/>
              </a:defRPr>
            </a:pPr>
            <a:r>
              <a:t>🎓  Pablo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14884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Análisis &amp; Validación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441448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138160" y="2734056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Calidad, métricas,</a:t>
            </a:r>
            <a:br/>
            <a:r>
              <a:t>validación. Responsable</a:t>
            </a:r>
            <a:br/>
            <a:r>
              <a:t>de asegurar que los</a:t>
            </a:r>
            <a:br/>
            <a:r>
              <a:t>datos cuentan la verdad.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TFM Máster en Big Data — 6 meses de desarrollo con metodología ágil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Construimos algo real. Ahora queremos que vuele.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E86DE"/>
                </a:solidFill>
                <a:latin typeface="Calibri"/>
              </a:defRPr>
            </a:pPr>
            <a:r>
              <a:t>1️⃣  Beta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2834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Viajeros que quieran probar la app</a:t>
            </a:r>
            <a:br/>
            <a:r>
              <a:t>y darnos feedback real.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E86DE"/>
                </a:solidFill>
                <a:latin typeface="Calibri"/>
              </a:defRPr>
            </a:pPr>
            <a:r>
              <a:t>2️⃣  Partners de distribución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31720"/>
            <a:ext cx="2834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Travel apps, seguros de viaje,</a:t>
            </a:r>
            <a:br/>
            <a:r>
              <a:t>agencias online.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122848"/>
          </a:solidFill>
          <a:ln w="1905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78308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2E86DE"/>
                </a:solidFill>
                <a:latin typeface="Calibri"/>
              </a:defRPr>
            </a:pPr>
            <a:r>
              <a:t>3️⃣  Financiación inicial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331720"/>
            <a:ext cx="2834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40.000 € para escalar infraestructura</a:t>
            </a:r>
            <a:br/>
            <a:r>
              <a:t>y desarrollar la app móvil.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572000"/>
            <a:ext cx="8534095" cy="914400"/>
          </a:xfrm>
          <a:prstGeom prst="roundRect">
            <a:avLst>
              <a:gd name="adj" fmla="val 5000"/>
            </a:avLst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¿Hablamos? Estamos listos para profundizar en cualquier aspecto.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Detalle de arquitectura técnica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E86DE"/>
                </a:solidFill>
                <a:latin typeface="Calibri"/>
              </a:defRPr>
            </a:pPr>
            <a:r>
              <a:t>Stack tecnológico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Python 3.12 · Pydantic v2 · Delta Lake / R2 · MongoDB · PostgreSQL · FastAPI · LightGBM · MLflow · GitHub Actions · Grafana ·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72865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E86DE"/>
                </a:solidFill>
                <a:latin typeface="Calibri"/>
              </a:defRPr>
            </a:pPr>
            <a:r>
              <a:t>Pipeline (5 scripts secuenciales)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extract_to_bronze.py → bronze_to_silver.py → silver_to_gold.py / silver_to_gold_entities.py → build_feature_store.py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72865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E86DE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5486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2E86DE"/>
                </a:solidFill>
                <a:latin typeface="Calibri"/>
              </a:rPr>
              <a:t>GET  /health</a:t>
            </a:r>
            <a:r>
              <a:rPr sz="1400" b="0">
                <a:solidFill>
                  <a:srgbClr val="FFFFFF"/>
                </a:solidFill>
                <a:latin typeface="Calibri"/>
              </a:rPr>
              <a:t> — Estado del sistema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2E86DE"/>
                </a:solidFill>
                <a:latin typeface="Calibri"/>
              </a:rPr>
              <a:t>POST /predict/delay</a:t>
            </a:r>
            <a:r>
              <a:rPr sz="1400" b="0">
                <a:solidFill>
                  <a:srgbClr val="FFFFFF"/>
                </a:solidFill>
                <a:latin typeface="Calibri"/>
              </a:rPr>
              <a:t> — Predicción de retraso por vuelo</a:t>
            </a:r>
          </a:p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2E86DE"/>
                </a:solidFill>
                <a:latin typeface="Calibri"/>
              </a:rPr>
              <a:t>POST /predict/eta</a:t>
            </a:r>
            <a:r>
              <a:rPr sz="1400" b="0">
                <a:solidFill>
                  <a:srgbClr val="FFFFFF"/>
                </a:solidFill>
                <a:latin typeface="Calibri"/>
              </a:rPr>
              <a:t> — Estimación de hora de llegada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E86DE"/>
                </a:solidFill>
                <a:latin typeface="Calibri"/>
              </a:defRPr>
            </a:pPr>
            <a:r>
              <a:t>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LightGBM Regressor · 22 features predictivas · Validación temporal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72865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E86DE"/>
                </a:solidFill>
                <a:latin typeface="Calibri"/>
              </a:defRPr>
            </a:pPr>
            <a:r>
              <a:t>Cobertura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32 aeropuertos españoles + 30 europeos = 62 aeropuertos monitorizados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